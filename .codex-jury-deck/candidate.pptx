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af4c01d5ad4b3e" /><Relationship Type="http://schemas.openxmlformats.org/officeDocument/2006/relationships/extended-properties" Target="/docProps/app.xml" Id="Rba71960cbb074eb1" /><Relationship Type="http://schemas.openxmlformats.org/officeDocument/2006/relationships/officeDocument" Target="/ppt/presentation.xml" Id="R0bca69a6b2d343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4b8830fa7f48fb"/>
  </p:sldMasterIdLst>
  <p:notesMasterIdLst>
    <p:notesMasterId xmlns:r="http://schemas.openxmlformats.org/officeDocument/2006/relationships" r:id="Rb73ec16475664768"/>
  </p:notesMasterIdLst>
  <p:sldIdLst>
    <p:sldId xmlns:r="http://schemas.openxmlformats.org/officeDocument/2006/relationships" id="256" r:id="R50da67a3ceb94657"/>
    <p:sldId xmlns:r="http://schemas.openxmlformats.org/officeDocument/2006/relationships" id="257" r:id="R090086a2c17e4ef6"/>
    <p:sldId xmlns:r="http://schemas.openxmlformats.org/officeDocument/2006/relationships" id="258" r:id="R6a0b955fe5a74d27"/>
    <p:sldId xmlns:r="http://schemas.openxmlformats.org/officeDocument/2006/relationships" id="259" r:id="Rb8ea47e50cde40a7"/>
    <p:sldId xmlns:r="http://schemas.openxmlformats.org/officeDocument/2006/relationships" id="260" r:id="R694ec61497e44c6d"/>
    <p:sldId xmlns:r="http://schemas.openxmlformats.org/officeDocument/2006/relationships" id="261" r:id="R02364ab510d24073"/>
    <p:sldId xmlns:r="http://schemas.openxmlformats.org/officeDocument/2006/relationships" id="262" r:id="Ra92ceab3aa2d42e1"/>
    <p:sldId xmlns:r="http://schemas.openxmlformats.org/officeDocument/2006/relationships" id="263" r:id="R2bd0e611c62342c1"/>
    <p:sldId xmlns:r="http://schemas.openxmlformats.org/officeDocument/2006/relationships" id="264" r:id="R6138fe29c90c4c9d"/>
    <p:sldId xmlns:r="http://schemas.openxmlformats.org/officeDocument/2006/relationships" id="265" r:id="Red548c6e9f2a40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0277865ee94174" /><Relationship Type="http://schemas.openxmlformats.org/officeDocument/2006/relationships/slideMaster" Target="/ppt/slideMasters/slideMaster1.xml" Id="Ra24b8830fa7f48fb" /><Relationship Type="http://schemas.openxmlformats.org/officeDocument/2006/relationships/notesMaster" Target="/ppt/notesMasters/notesMaster1.xml" Id="Rb73ec16475664768" /><Relationship Type="http://schemas.openxmlformats.org/officeDocument/2006/relationships/presProps" Target="/ppt/presProps.xml" Id="R5b2dbb3e92774f7f" /><Relationship Type="http://schemas.openxmlformats.org/officeDocument/2006/relationships/tableStyles" Target="/ppt/tableStyles.xml" Id="R0e45d4c79d74426f" /><Relationship Type="http://schemas.openxmlformats.org/officeDocument/2006/relationships/slide" Target="/ppt/slides/slide1.xml" Id="R50da67a3ceb94657" /><Relationship Type="http://schemas.openxmlformats.org/officeDocument/2006/relationships/slide" Target="/ppt/slides/slide2.xml" Id="R090086a2c17e4ef6" /><Relationship Type="http://schemas.openxmlformats.org/officeDocument/2006/relationships/slide" Target="/ppt/slides/slide3.xml" Id="R6a0b955fe5a74d27" /><Relationship Type="http://schemas.openxmlformats.org/officeDocument/2006/relationships/slide" Target="/ppt/slides/slide4.xml" Id="Rb8ea47e50cde40a7" /><Relationship Type="http://schemas.openxmlformats.org/officeDocument/2006/relationships/slide" Target="/ppt/slides/slide5.xml" Id="R694ec61497e44c6d" /><Relationship Type="http://schemas.openxmlformats.org/officeDocument/2006/relationships/slide" Target="/ppt/slides/slide6.xml" Id="R02364ab510d24073" /><Relationship Type="http://schemas.openxmlformats.org/officeDocument/2006/relationships/slide" Target="/ppt/slides/slide7.xml" Id="Ra92ceab3aa2d42e1" /><Relationship Type="http://schemas.openxmlformats.org/officeDocument/2006/relationships/slide" Target="/ppt/slides/slide8.xml" Id="R2bd0e611c62342c1" /><Relationship Type="http://schemas.openxmlformats.org/officeDocument/2006/relationships/slide" Target="/ppt/slides/slide9.xml" Id="R6138fe29c90c4c9d" /><Relationship Type="http://schemas.openxmlformats.org/officeDocument/2006/relationships/slide" Target="/ppt/slides/slide10.xml" Id="Red548c6e9f2a40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c625631e4c4c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3844b9b3ae481f" /><Relationship Type="http://schemas.openxmlformats.org/officeDocument/2006/relationships/notesMaster" Target="/ppt/notesMasters/notesMaster1.xml" Id="R6031cb558bb74b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8db0d12c2b4ee8" /><Relationship Type="http://schemas.openxmlformats.org/officeDocument/2006/relationships/notesMaster" Target="/ppt/notesMasters/notesMaster1.xml" Id="Rdbb1ca42abfa4b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e543711d184d6b" /><Relationship Type="http://schemas.openxmlformats.org/officeDocument/2006/relationships/notesMaster" Target="/ppt/notesMasters/notesMaster1.xml" Id="R1e2713ddcb944d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4f5b6175fe4a5c" /><Relationship Type="http://schemas.openxmlformats.org/officeDocument/2006/relationships/notesMaster" Target="/ppt/notesMasters/notesMaster1.xml" Id="R3e56ac2eb05540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3c9c0ad29a4a90" /><Relationship Type="http://schemas.openxmlformats.org/officeDocument/2006/relationships/notesMaster" Target="/ppt/notesMasters/notesMaster1.xml" Id="Rc46c3b6f18924f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0dc4cc73ec4723" /><Relationship Type="http://schemas.openxmlformats.org/officeDocument/2006/relationships/notesMaster" Target="/ppt/notesMasters/notesMaster1.xml" Id="R127d5cec9ef844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6855c2f2b343a7" /><Relationship Type="http://schemas.openxmlformats.org/officeDocument/2006/relationships/notesMaster" Target="/ppt/notesMasters/notesMaster1.xml" Id="Re896ea007d0841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424187ac834848" /><Relationship Type="http://schemas.openxmlformats.org/officeDocument/2006/relationships/notesMaster" Target="/ppt/notesMasters/notesMaster1.xml" Id="Rf6bd3ab507fb4b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4e336438a34698" /><Relationship Type="http://schemas.openxmlformats.org/officeDocument/2006/relationships/notesMaster" Target="/ppt/notesMasters/notesMaster1.xml" Id="R4543c9dc6b8146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d563d422e2432e" /><Relationship Type="http://schemas.openxmlformats.org/officeDocument/2006/relationships/notesMaster" Target="/ppt/notesMasters/notesMaster1.xml" Id="Rc56e8650addb48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brièvement le projet et annoncer le fil conducteur: besoin, solution, architecture, démonstration et bilan.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rapport_pfe1_updated.docx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projet répond à la fragmentation des outils de création pédagogique. La plateforme vise un environnement unique pour concevoir, collaborer et publier.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rapport_pfe1_updated.docx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SupScenario centralise les fonctions nécessaires à la production de contenus pédagogiques structurés, jusqu’à leur diffusion dans des environnements compatibles SCORM.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rapport_pfe1_updated.docx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Montrer l’éditeur comme point central de la plateforme. L’utilisateur crée puis structure les contenus pédagogiques directement dans le studio.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rapport_pfe1_updated.docx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Décrire la séparation entre interface, services et persistance. Insister sur le rôle de Redis pour la collaboration et de Cloudflare/Nginx pour l’accès sécurisé.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rapport_pfe1_updated.docx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L’IA ne modifie pas silencieusement le cours. Elle produit des changements ciblés que l’enseignant peut contrôler. La collaboration repose sur WebSocket et Redis.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rapport_pfe1_updated.docx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double prise en charge SCORM répond au besoin d’interopérabilité. La visionneuse sert à contrôler l’export avant son déploiement dans un LMS.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rapport_pfe1_updated.docx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les mesures sans surinterprétation. Les graphiques comparent les configurations documentées dans le rapport: persistance, inférence, génération PDF et cache média.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rapport_pfe1_updated.docx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Relier le déploiement à la sécurité applicative: l’architecture protège les flux entrants, applique des contrôles d’accès et isole les services.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rapport_pfe1_updated.docx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Conclure par les apports concrets, puis ouvrir sur les évolutions possibles. Inviter le jury aux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rapport_pfe1_updated.docx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b2ef90664044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ff408eb6244f75" /><Relationship Type="http://schemas.openxmlformats.org/officeDocument/2006/relationships/slideLayout" Target="/ppt/slideLayouts/slideLayout1.xml" Id="R0674b97222db44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74b97222db44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dc648a7d24f34" /><Relationship Type="http://schemas.openxmlformats.org/officeDocument/2006/relationships/image" Target="/ppt/media/image.png" Id="R7136a76f0f1c440b" /><Relationship Type="http://schemas.openxmlformats.org/officeDocument/2006/relationships/notesSlide" Target="/ppt/notesSlides/notesSlide1.xml" Id="Rf941dc9aa4fe4c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0420822dc4714" /><Relationship Type="http://schemas.openxmlformats.org/officeDocument/2006/relationships/image" Target="/ppt/media/image2.png" Id="R99e4ce96b8314c17" /><Relationship Type="http://schemas.openxmlformats.org/officeDocument/2006/relationships/notesSlide" Target="/ppt/notesSlides/notesSlide2.xml" Id="Rba6576b2e81842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085d8a32e4bf4" /><Relationship Type="http://schemas.openxmlformats.org/officeDocument/2006/relationships/image" Target="/ppt/media/image3.png" Id="R3b0137f94ded4f6b" /><Relationship Type="http://schemas.openxmlformats.org/officeDocument/2006/relationships/notesSlide" Target="/ppt/notesSlides/notesSlide3.xml" Id="R7fa227fc908b44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4b0f1c1a94b39" /><Relationship Type="http://schemas.openxmlformats.org/officeDocument/2006/relationships/image" Target="/ppt/media/image4.png" Id="R30ad3b494b3c4084" /><Relationship Type="http://schemas.openxmlformats.org/officeDocument/2006/relationships/notesSlide" Target="/ppt/notesSlides/notesSlide4.xml" Id="Rb046bf482a664c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3e9519f0c49f9" /><Relationship Type="http://schemas.openxmlformats.org/officeDocument/2006/relationships/image" Target="/ppt/media/image5.png" Id="R96fa1ebd5f6d4808" /><Relationship Type="http://schemas.openxmlformats.org/officeDocument/2006/relationships/notesSlide" Target="/ppt/notesSlides/notesSlide5.xml" Id="Ra9c50b09b8594d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868cb11f44a73" /><Relationship Type="http://schemas.openxmlformats.org/officeDocument/2006/relationships/image" Target="/ppt/media/image6.png" Id="R3b44852e9dab4b63" /><Relationship Type="http://schemas.openxmlformats.org/officeDocument/2006/relationships/notesSlide" Target="/ppt/notesSlides/notesSlide6.xml" Id="R3a997f8421d145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6d7962b4a445c" /><Relationship Type="http://schemas.openxmlformats.org/officeDocument/2006/relationships/image" Target="/ppt/media/image7.png" Id="R3a7480f371db4f86" /><Relationship Type="http://schemas.openxmlformats.org/officeDocument/2006/relationships/notesSlide" Target="/ppt/notesSlides/notesSlide7.xml" Id="R3074b354f95745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773ebf9d943ca" /><Relationship Type="http://schemas.openxmlformats.org/officeDocument/2006/relationships/image" Target="/ppt/media/image8.png" Id="R07aad838d2474dbb" /><Relationship Type="http://schemas.openxmlformats.org/officeDocument/2006/relationships/notesSlide" Target="/ppt/notesSlides/notesSlide8.xml" Id="R08818b1b11f94f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b9c99e322416b" /><Relationship Type="http://schemas.openxmlformats.org/officeDocument/2006/relationships/image" Target="/ppt/media/image9.png" Id="R17460f729bd84c68" /><Relationship Type="http://schemas.openxmlformats.org/officeDocument/2006/relationships/notesSlide" Target="/ppt/notesSlides/notesSlide9.xml" Id="R79ce22eff3254a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481ad00dc423a" /><Relationship Type="http://schemas.openxmlformats.org/officeDocument/2006/relationships/notesSlide" Target="/ppt/notesSlides/notesSlide10.xml" Id="R0bc465d121964ad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97776-7968-42C2-BB96-DEE6F237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8"/>
          </a:solidFill>
          <a:ln xmlns:a="http://schemas.openxmlformats.org/drawingml/2006/main" w="0">
            <a:solidFill>
              <a:srgbClr val="0B152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188DC-B717-4355-8849-53D41C83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72"/>
          </a:solidFill>
          <a:ln xmlns:a="http://schemas.openxmlformats.org/drawingml/2006/main" w="0">
            <a:solidFill>
              <a:srgbClr val="009B7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02B96-C186-481F-BF72-16744A44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CE1C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CE1C7"/>
                </a:solidFill>
                <a:latin typeface="Aptos"/>
                <a:ea typeface="Aptos"/>
                <a:cs typeface="Aptos"/>
              </a:rPr>
              <a:t>Projet de fin d’études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6107B-0061-430C-B444-0D24BA3C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561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SupScenario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6B6AB-EFCB-41EA-B2DC-CDC8840E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5286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E6F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8E6F1"/>
                </a:solidFill>
                <a:latin typeface="Aptos"/>
                <a:ea typeface="Aptos"/>
                <a:cs typeface="Aptos"/>
              </a:rPr>
              <a:t>Plateforme de scénarisation pédagogique active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A97A6-DF52-4CE7-82D6-70E39212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C8D5E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C8D5E4"/>
                </a:solidFill>
                <a:latin typeface="Aptos"/>
                <a:ea typeface="Aptos"/>
                <a:cs typeface="Aptos"/>
              </a:rPr>
              <a:t>Haroun Mzoughi</a:t>
            </a:r>
          </a:p>
          <a:p xmlns:a="http://schemas.openxmlformats.org/drawingml/2006/main">
            <a:pPr>
              <a:defRPr sz="1425">
                <a:solidFill>
                  <a:srgbClr val="C8D5E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C8D5E4"/>
                </a:solidFill>
                <a:latin typeface="Aptos"/>
                <a:ea typeface="Aptos"/>
                <a:cs typeface="Aptos"/>
              </a:rPr>
              <a:t>Licence en Science de l’Informatique, parcours Computer Engineering</a:t>
            </a:r>
          </a:p>
          <a:p xmlns:a="http://schemas.openxmlformats.org/drawingml/2006/main">
            <a:pPr>
              <a:defRPr sz="1425">
                <a:solidFill>
                  <a:srgbClr val="C8D5E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C8D5E4"/>
                </a:solidFill>
                <a:latin typeface="Aptos"/>
                <a:ea typeface="Aptos"/>
                <a:cs typeface="Aptos"/>
              </a:rPr>
              <a:t>Faculté des Sciences de Tunis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C65AF-9CCE-4B2B-983D-6A9C8B41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CE1C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8CE1C7"/>
                </a:solidFill>
                <a:latin typeface="Aptos"/>
                <a:ea typeface="Aptos"/>
                <a:cs typeface="Aptos"/>
              </a:rPr>
              <a:t>Soutenance · 30 septembre 2026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6a76f0f1c440b"/>
          <a:srcRect xmlns:a="http://schemas.openxmlformats.org/drawingml/2006/main" l="24956" t="0" r="249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15125" y="1123950"/>
            <a:ext cx="4762500" cy="4514850"/>
          </a:xfrm>
          <a:prstGeom xmlns:a="http://schemas.openxmlformats.org/drawingml/2006/main" prst="roundRect">
            <a:avLst>
              <a:gd name="adj" fmla="val 2532"/>
            </a:avLst>
          </a:prstGeom>
        </p:spPr>
      </p:pic>
    </p:spTree>
    <p:extLst>
      <p:ext uri="{BB962C8B-B14F-4D97-AF65-F5344CB8AC3E}">
        <p14:creationId xmlns:p14="http://schemas.microsoft.com/office/powerpoint/2010/main" val="59277127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7DDE3A-9DBA-41B7-8956-A3E1387D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5C29F-095F-466D-857D-F86F4C86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72"/>
          </a:solidFill>
          <a:ln xmlns:a="http://schemas.openxmlformats.org/drawingml/2006/main" w="0">
            <a:solidFill>
              <a:srgbClr val="009B7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8E09F-1D42-493F-AF53-5BE6FAB9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13B"/>
                </a:solidFill>
                <a:latin typeface="Aptos"/>
                <a:ea typeface="Aptos"/>
                <a:cs typeface="Aptos"/>
              </a:rPr>
              <a:t>Contexte et problématique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2531E-466B-4D5B-BE4F-D8DE5FA2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4657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4657F"/>
                </a:solidFill>
                <a:latin typeface="Aptos"/>
                <a:ea typeface="Aptos"/>
                <a:cs typeface="Aptos"/>
              </a:rPr>
              <a:t>La conception de parcours pédagogiques reste fragmentée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0BA1B-230B-4A9C-90B3-42CE5B88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9B7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B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0B0574-36A4-465C-824E-A3C2A136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9B7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9B72"/>
                </a:solidFill>
                <a:latin typeface="Aptos"/>
                <a:ea typeface="Aptos"/>
                <a:cs typeface="Aptos"/>
              </a:rPr>
              <a:t>Constat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5036D-D4D7-4559-B223-19B3E8E3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857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Les outils bureautiques structurent mal les parcours interactifs.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Les LMS traditionnels deviennent lourds pour l’auteur de contenu.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La collaboration, l’assistance IA et les exports standards restent dispersés.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7B8C3-F64A-44AC-B746-524230B0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4857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5EE"/>
          </a:solidFill>
          <a:ln xmlns:a="http://schemas.openxmlformats.org/drawingml/2006/main" w="0">
            <a:solidFill>
              <a:srgbClr val="DCF5E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69D11-9A1B-4743-A8DB-99EF431A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29225"/>
            <a:ext cx="440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75E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5E4A"/>
                </a:solidFill>
                <a:latin typeface="Aptos"/>
                <a:ea typeface="Aptos"/>
                <a:cs typeface="Aptos"/>
              </a:rPr>
              <a:t>Question: comment réunir l’auteur, la collaboration et l’export e-learning dans un même environnement?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4ce96b8314c17"/>
          <a:stretch xmlns:a="http://schemas.openxmlformats.org/drawingml/2006/main"/>
        </p:blipFill>
        <p:spPr>
          <a:xfrm xmlns:a="http://schemas.openxmlformats.org/drawingml/2006/main">
            <a:off x="6048375" y="1844307"/>
            <a:ext cx="5429250" cy="3455136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</p:spTree>
    <p:extLst>
      <p:ext uri="{BB962C8B-B14F-4D97-AF65-F5344CB8AC3E}">
        <p14:creationId xmlns:p14="http://schemas.microsoft.com/office/powerpoint/2010/main" val="5693325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353BA-6C11-433A-9856-28EFE030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1A614-8F4B-4E30-A966-BA5AB694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72"/>
          </a:solidFill>
          <a:ln xmlns:a="http://schemas.openxmlformats.org/drawingml/2006/main" w="0">
            <a:solidFill>
              <a:srgbClr val="009B7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18C76-AA12-42AE-A22E-B8427A06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13B"/>
                </a:solidFill>
                <a:latin typeface="Aptos"/>
                <a:ea typeface="Aptos"/>
                <a:cs typeface="Aptos"/>
              </a:rPr>
              <a:t>SupScenario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1DC1B-A7B5-487B-A1A7-2EFA887C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4657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4657F"/>
                </a:solidFill>
                <a:latin typeface="Aptos"/>
                <a:ea typeface="Aptos"/>
                <a:cs typeface="Aptos"/>
              </a:rPr>
              <a:t>Une suite web pour concevoir, enrichir et diffuser des cours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94F62-415E-4F20-9DE1-C507A4E3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9B7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B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0137f94ded4f6b"/>
          <a:srcRect xmlns:a="http://schemas.openxmlformats.org/drawingml/2006/main" l="18636" t="0" r="186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76375"/>
            <a:ext cx="533400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07E5FA-F809-47B2-A8E6-9FA14B3F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9B7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9B72"/>
                </a:solidFill>
                <a:latin typeface="Aptos"/>
                <a:ea typeface="Aptos"/>
                <a:cs typeface="Aptos"/>
              </a:rPr>
              <a:t>Une plateforme unifiée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F49F0-0C3F-4E42-B6CA-1C40E10F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900"/>
            <a:ext cx="4286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Création hiérarchique de scénarios, sections, leçons et quiz.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Assistance pédagogique contrôlée par l’enseignant.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Co-édition synchrone avec présence et verrouillage.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Publication SCORM 1.2, SCORM 2004 et PDF A4.</a:t>
            </a:r>
          </a:p>
        </p:txBody>
      </p:sp>
    </p:spTree>
    <p:extLst>
      <p:ext uri="{BB962C8B-B14F-4D97-AF65-F5344CB8AC3E}">
        <p14:creationId xmlns:p14="http://schemas.microsoft.com/office/powerpoint/2010/main" val="1573616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194E1-1ACC-4730-BE02-A01DA965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63258-A8AE-4E8E-8DDA-F25233C8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72"/>
          </a:solidFill>
          <a:ln xmlns:a="http://schemas.openxmlformats.org/drawingml/2006/main" w="0">
            <a:solidFill>
              <a:srgbClr val="009B7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82A87-B27F-4E6B-A590-5FDD36DC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13B"/>
                </a:solidFill>
                <a:latin typeface="Aptos"/>
                <a:ea typeface="Aptos"/>
                <a:cs typeface="Aptos"/>
              </a:rPr>
              <a:t>Studio auteur unifié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4C3BA-9768-45EC-9F4B-1F88E7C7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4657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4657F"/>
                </a:solidFill>
                <a:latin typeface="Aptos"/>
                <a:ea typeface="Aptos"/>
                <a:cs typeface="Aptos"/>
              </a:rPr>
              <a:t>Le scénario pédagogique devient un document hiérarchique éditable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AB5F4-63EA-402F-AD99-221EF3AE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9B7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B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2ACD4-B283-496F-AC08-77FADE8E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9B7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9B72"/>
                </a:solidFill>
                <a:latin typeface="Aptos"/>
                <a:ea typeface="Aptos"/>
                <a:cs typeface="Aptos"/>
              </a:rPr>
              <a:t>Organisation des contenus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0681F-42E5-477D-8034-EF409345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476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Une structure claire: sections, leçons, blocs et évaluations.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Des contenus éditables sans quitter le contexte du cours.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Des réglages de cours et des droits de collaboration intégrés.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EB69D-680D-49C4-AE80-AD3DD075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333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CAF32-28D0-404E-BB60-650B9169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4657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4657F"/>
                </a:solidFill>
                <a:latin typeface="Aptos"/>
                <a:ea typeface="Aptos"/>
                <a:cs typeface="Aptos"/>
              </a:rPr>
              <a:t>Le modèle JSONB conserve la structure complète du scénario tout en restant interrogeable.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d3b494b3c4084"/>
          <a:srcRect xmlns:a="http://schemas.openxmlformats.org/drawingml/2006/main" l="18822" t="0" r="188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0" y="1428750"/>
            <a:ext cx="5762625" cy="4324350"/>
          </a:xfrm>
          <a:prstGeom xmlns:a="http://schemas.openxmlformats.org/drawingml/2006/main" prst="roundRect">
            <a:avLst>
              <a:gd name="adj" fmla="val 2643"/>
            </a:avLst>
          </a:prstGeom>
        </p:spPr>
      </p:pic>
    </p:spTree>
    <p:extLst>
      <p:ext uri="{BB962C8B-B14F-4D97-AF65-F5344CB8AC3E}">
        <p14:creationId xmlns:p14="http://schemas.microsoft.com/office/powerpoint/2010/main" val="14931043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56729B-ABCB-44E9-A445-6E9EA16D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4A810-E2D4-47E0-AEC0-4CE9A831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72"/>
          </a:solidFill>
          <a:ln xmlns:a="http://schemas.openxmlformats.org/drawingml/2006/main" w="0">
            <a:solidFill>
              <a:srgbClr val="009B7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4A32F-94C5-4C7B-9234-01452397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13B"/>
                </a:solidFill>
                <a:latin typeface="Aptos"/>
                <a:ea typeface="Aptos"/>
                <a:cs typeface="Aptos"/>
              </a:rPr>
              <a:t>Architecture logicielle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F4C49-7F58-4BA5-BB1E-732AA417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4657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4657F"/>
                </a:solidFill>
                <a:latin typeface="Aptos"/>
                <a:ea typeface="Aptos"/>
                <a:cs typeface="Aptos"/>
              </a:rPr>
              <a:t>Une architecture web modulaire, distribuée et sécurisée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A4401-5E18-440B-873E-6A34E80D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9B7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B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a1ebd5f6d4808"/>
          <a:stretch xmlns:a="http://schemas.openxmlformats.org/drawingml/2006/main"/>
        </p:blipFill>
        <p:spPr>
          <a:xfrm xmlns:a="http://schemas.openxmlformats.org/drawingml/2006/main">
            <a:off x="571500" y="1294942"/>
            <a:ext cx="7524750" cy="5077742"/>
          </a:xfrm>
          <a:prstGeom xmlns:a="http://schemas.openxmlformats.org/drawingml/2006/main" prst="roundRect">
            <a:avLst>
              <a:gd name="adj" fmla="val 224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264FA7-44BE-438E-8D66-520EBB09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668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9B7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9B72"/>
                </a:solidFill>
                <a:latin typeface="Aptos"/>
                <a:ea typeface="Aptos"/>
                <a:cs typeface="Aptos"/>
              </a:rPr>
              <a:t>Principes techniques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22DC7-DBD5-4A56-B2A9-4514EE56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90750"/>
            <a:ext cx="30956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Next.js 16 pour l’interface web.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NestJS 11 pour les services métier et API.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PostgreSQL 16: données relationnelles et JSONB indexé GIN.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Redis 7 pour les événements temps réel.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Cloudflare Tunnel et Nginx pour l’exposition sécurisée.</a:t>
            </a:r>
          </a:p>
        </p:txBody>
      </p:sp>
    </p:spTree>
    <p:extLst>
      <p:ext uri="{BB962C8B-B14F-4D97-AF65-F5344CB8AC3E}">
        <p14:creationId xmlns:p14="http://schemas.microsoft.com/office/powerpoint/2010/main" val="164228873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03ED2-849F-4661-AFB8-B040B26F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8818A-A579-4FEA-857E-D3CFC6D3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72"/>
          </a:solidFill>
          <a:ln xmlns:a="http://schemas.openxmlformats.org/drawingml/2006/main" w="0">
            <a:solidFill>
              <a:srgbClr val="009B7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FFDAE-75BA-4315-AA7D-555B3AE8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13B"/>
                </a:solidFill>
                <a:latin typeface="Aptos"/>
                <a:ea typeface="Aptos"/>
                <a:cs typeface="Aptos"/>
              </a:rPr>
              <a:t>IA pédagogique et co-conception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C5AED-CDBD-4720-8273-7B945F60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4657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4657F"/>
                </a:solidFill>
                <a:latin typeface="Aptos"/>
                <a:ea typeface="Aptos"/>
                <a:cs typeface="Aptos"/>
              </a:rPr>
              <a:t>L’assistance accélère la rédaction, l’enseignant garde le contrôle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53AA2-DF13-4FBD-9A02-2DB72F8B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9B7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B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4852e9dab4b63"/>
          <a:stretch xmlns:a="http://schemas.openxmlformats.org/drawingml/2006/main"/>
        </p:blipFill>
        <p:spPr>
          <a:xfrm xmlns:a="http://schemas.openxmlformats.org/drawingml/2006/main">
            <a:off x="953072" y="1476375"/>
            <a:ext cx="4666106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6BA83-B8DB-4217-B50A-E2866FF5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9B7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9B72"/>
                </a:solidFill>
                <a:latin typeface="Aptos"/>
                <a:ea typeface="Aptos"/>
                <a:cs typeface="Aptos"/>
              </a:rPr>
              <a:t>Assistance 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676BE-8D33-4FD3-8026-2B60B85C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3338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Groq LPU produit une proposition structurée ou un patch ciblé.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Le serveur applique des modifications atomiques et déterministes.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L’enseignant conserve la décision d’accepter ou de modifier le résultat.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BC0EB-6FC4-40DA-9A4A-A088364F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9B7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9B72"/>
                </a:solidFill>
                <a:latin typeface="Aptos"/>
                <a:ea typeface="Aptos"/>
                <a:cs typeface="Aptos"/>
              </a:rPr>
              <a:t>Collaboration temps réel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CCA41-C08C-406C-A3E0-C0C3161E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333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WebSockets pour la présence et les mises à jour.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Verrous au niveau des éléments pour éviter les conflits d’édition.</a:t>
            </a:r>
          </a:p>
        </p:txBody>
      </p:sp>
    </p:spTree>
    <p:extLst>
      <p:ext uri="{BB962C8B-B14F-4D97-AF65-F5344CB8AC3E}">
        <p14:creationId xmlns:p14="http://schemas.microsoft.com/office/powerpoint/2010/main" val="160198113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AFCD10-8102-4FD3-B72F-F9E9A91B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7EEA7-B7CE-42E4-96B0-2FC83C20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72"/>
          </a:solidFill>
          <a:ln xmlns:a="http://schemas.openxmlformats.org/drawingml/2006/main" w="0">
            <a:solidFill>
              <a:srgbClr val="009B7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E38A5-9D42-4C69-A77C-DF3622A1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13B"/>
                </a:solidFill>
                <a:latin typeface="Aptos"/>
                <a:ea typeface="Aptos"/>
                <a:cs typeface="Aptos"/>
              </a:rPr>
              <a:t>Interopérabilité et diffusion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591EC-2614-4954-B95F-826594A0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4657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4657F"/>
                </a:solidFill>
                <a:latin typeface="Aptos"/>
                <a:ea typeface="Aptos"/>
                <a:cs typeface="Aptos"/>
              </a:rPr>
              <a:t>Des cours prêts à être utilisés dans des plateformes e-learning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695C3-E380-4D40-A1D1-34B1E64C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9B7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B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480f371db4f86"/>
          <a:srcRect xmlns:a="http://schemas.openxmlformats.org/drawingml/2006/main" l="15944" t="0" r="159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571625"/>
            <a:ext cx="533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AD3D3-AD65-4028-8887-72385EC3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9B7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9B72"/>
                </a:solidFill>
                <a:latin typeface="Aptos"/>
                <a:ea typeface="Aptos"/>
                <a:cs typeface="Aptos"/>
              </a:rPr>
              <a:t>Chaîne de publication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8ABCC-2793-4C76-8D4F-0312FDFA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14337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Compilation d’un paquet SCORM 1.2 ou SCORM 2004.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Génération d’un PDF A4 vectoriel avec Puppeteer.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Visionneuse intégrée pour vérifier le contenu exporté.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Extraction ZIP protégée contre les attaques Zip-Slip.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FF6C3-F91B-454C-96B0-450E7026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0"/>
            <a:ext cx="4095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5EE"/>
          </a:solidFill>
          <a:ln xmlns:a="http://schemas.openxmlformats.org/drawingml/2006/main" w="0">
            <a:solidFill>
              <a:srgbClr val="DCF5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2A416-6798-479B-B67E-C57CCECC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14925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5E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5E4A"/>
                </a:solidFill>
                <a:latin typeface="Aptos"/>
                <a:ea typeface="Aptos"/>
                <a:cs typeface="Aptos"/>
              </a:rPr>
              <a:t>Objectif: conserver l’indépendance du cours vis-à-vis de la plateforme cible.</a:t>
            </a:r>
          </a:p>
        </p:txBody>
      </p:sp>
    </p:spTree>
    <p:extLst>
      <p:ext uri="{BB962C8B-B14F-4D97-AF65-F5344CB8AC3E}">
        <p14:creationId xmlns:p14="http://schemas.microsoft.com/office/powerpoint/2010/main" val="7866898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D61D5-11FF-4A63-A9ED-00C420FB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F039B-CF63-470A-A729-2A4BB170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72"/>
          </a:solidFill>
          <a:ln xmlns:a="http://schemas.openxmlformats.org/drawingml/2006/main" w="0">
            <a:solidFill>
              <a:srgbClr val="009B7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DD536-95C0-4C3D-8A0A-5F7CD698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13B"/>
                </a:solidFill>
                <a:latin typeface="Aptos"/>
                <a:ea typeface="Aptos"/>
                <a:cs typeface="Aptos"/>
              </a:rPr>
              <a:t>Évaluation et performances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54F51-45E3-4D05-85DA-C537C778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4657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4657F"/>
                </a:solidFill>
                <a:latin typeface="Aptos"/>
                <a:ea typeface="Aptos"/>
                <a:cs typeface="Aptos"/>
              </a:rPr>
              <a:t>Les choix d’architecture sont confrontés à des mesures concrètes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2F6E1-65D6-40F4-BF70-BF5D0F20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9B7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B7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ad838d2474dbb"/>
          <a:stretch xmlns:a="http://schemas.openxmlformats.org/drawingml/2006/main"/>
        </p:blipFill>
        <p:spPr>
          <a:xfrm xmlns:a="http://schemas.openxmlformats.org/drawingml/2006/main">
            <a:off x="609600" y="1457614"/>
            <a:ext cx="6477000" cy="4514273"/>
          </a:xfrm>
          <a:prstGeom xmlns:a="http://schemas.openxmlformats.org/drawingml/2006/main" prst="roundRect">
            <a:avLst>
              <a:gd name="adj" fmla="val 244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841EA-E621-487E-8A2D-141C00FE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666875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9B7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9B72"/>
                </a:solidFill>
                <a:latin typeface="Aptos"/>
                <a:ea typeface="Aptos"/>
                <a:cs typeface="Aptos"/>
              </a:rPr>
              <a:t>Résultats mis en évidence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78AAD-1865-427B-8C7F-C967814A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38375"/>
            <a:ext cx="3714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JSONB + GIN réduit les temps de lecture, sauvegarde et recherche par rapport au modèle relationnel comparé.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Groq LPU réduit le délai au premier token face au GPU cloud comparé.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La régulation Puppeteer réduit le pic mémoire mesuré.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Le cache Pexels atteint 85,4 % de requêtes servies.</a:t>
            </a:r>
          </a:p>
        </p:txBody>
      </p:sp>
    </p:spTree>
    <p:extLst>
      <p:ext uri="{BB962C8B-B14F-4D97-AF65-F5344CB8AC3E}">
        <p14:creationId xmlns:p14="http://schemas.microsoft.com/office/powerpoint/2010/main" val="42448916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4D21C-6F7F-4B88-B239-9F3F539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D7FE5-35CE-4A4D-83FB-25319304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72"/>
          </a:solidFill>
          <a:ln xmlns:a="http://schemas.openxmlformats.org/drawingml/2006/main" w="0">
            <a:solidFill>
              <a:srgbClr val="009B7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E8CF0-D290-482E-BB61-F1738E2F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13B"/>
                </a:solidFill>
                <a:latin typeface="Aptos"/>
                <a:ea typeface="Aptos"/>
                <a:cs typeface="Aptos"/>
              </a:rPr>
              <a:t>Déploiement et sécurité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08B5D-7F35-4488-818B-2D498714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4657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4657F"/>
                </a:solidFill>
                <a:latin typeface="Aptos"/>
                <a:ea typeface="Aptos"/>
                <a:cs typeface="Aptos"/>
              </a:rPr>
              <a:t>Une infrastructure conteneurisée avec une exposition réseau maîtrisée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B3622-E811-4597-9788-F2EDE82F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9B7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B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60f729bd84c68"/>
          <a:stretch xmlns:a="http://schemas.openxmlformats.org/drawingml/2006/main"/>
        </p:blipFill>
        <p:spPr>
          <a:xfrm xmlns:a="http://schemas.openxmlformats.org/drawingml/2006/main">
            <a:off x="619125" y="1533741"/>
            <a:ext cx="6048375" cy="4123892"/>
          </a:xfrm>
          <a:prstGeom xmlns:a="http://schemas.openxmlformats.org/drawingml/2006/main" prst="roundRect">
            <a:avLst>
              <a:gd name="adj" fmla="val 263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84AC4-2317-4FA3-ADDB-1ED4608D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716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9B7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9B72"/>
                </a:solidFill>
                <a:latin typeface="Aptos"/>
                <a:ea typeface="Aptos"/>
                <a:cs typeface="Aptos"/>
              </a:rPr>
              <a:t>Mesures clés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F5A56-BC36-4604-9317-28C91F97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143125"/>
            <a:ext cx="40481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Docker Compose isole les services de l’application.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Cloudflare Tunnel évite l’exposition directe de ports publics.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Nginx assure le routage entre interface, API et WebSocket.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JWT en cookie HttpOnly, contrôles de rôle et validation des DTOs.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0213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0213B"/>
                </a:solidFill>
                <a:latin typeface="Aptos"/>
                <a:ea typeface="Aptos"/>
                <a:cs typeface="Aptos"/>
              </a:rPr>
              <a:t>Protection anti Zip-Slip lors de l’import de paquets SCORM.</a:t>
            </a:r>
          </a:p>
        </p:txBody>
      </p:sp>
    </p:spTree>
    <p:extLst>
      <p:ext uri="{BB962C8B-B14F-4D97-AF65-F5344CB8AC3E}">
        <p14:creationId xmlns:p14="http://schemas.microsoft.com/office/powerpoint/2010/main" val="83072897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7E33BE-A0B2-4188-971C-C8290247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8"/>
          </a:solidFill>
          <a:ln xmlns:a="http://schemas.openxmlformats.org/drawingml/2006/main" w="0">
            <a:solidFill>
              <a:srgbClr val="0B152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295EE-635B-442F-BD6C-4598A95A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72"/>
          </a:solidFill>
          <a:ln xmlns:a="http://schemas.openxmlformats.org/drawingml/2006/main" w="0">
            <a:solidFill>
              <a:srgbClr val="009B7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8FE9C-D8C7-40FA-AA23-924B6AD4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F053A-0E1D-40B0-958D-1CFE2442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8E6F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8E6F1"/>
                </a:solidFill>
                <a:latin typeface="Aptos"/>
                <a:ea typeface="Aptos"/>
                <a:cs typeface="Aptos"/>
              </a:rPr>
              <a:t>SupScenario apporte un environnement cohérent pour concevoir, co-éditer et diffuser des parcours pédagogiques.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104CA-19CE-4C4C-B351-87EB6742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098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CE1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CE1C7"/>
                </a:solidFill>
                <a:latin typeface="Aptos"/>
                <a:ea typeface="Aptos"/>
                <a:cs typeface="Aptos"/>
              </a:rPr>
              <a:t>Apports du projet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1EB2B-C4D7-45F8-9912-8281E52B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590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D8E6F1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D8E6F1"/>
                </a:solidFill>
                <a:latin typeface="Aptos"/>
                <a:ea typeface="Aptos"/>
                <a:cs typeface="Aptos"/>
              </a:rPr>
              <a:t>Studio auteur fondé sur un modèle hiérarchique.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D8E6F1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D8E6F1"/>
                </a:solidFill>
                <a:latin typeface="Aptos"/>
                <a:ea typeface="Aptos"/>
                <a:cs typeface="Aptos"/>
              </a:rPr>
              <a:t>IA pédagogique contrôlée et collaboration temps réel.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D8E6F1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D8E6F1"/>
                </a:solidFill>
                <a:latin typeface="Aptos"/>
                <a:ea typeface="Aptos"/>
                <a:cs typeface="Aptos"/>
              </a:rPr>
              <a:t>Exports SCORM/PDF, sécurité et déploiement industrialisable.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F53ED-BF39-409C-937A-2773C29C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98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CE1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CE1C7"/>
                </a:solidFill>
                <a:latin typeface="Aptos"/>
                <a:ea typeface="Aptos"/>
                <a:cs typeface="Aptos"/>
              </a:rPr>
              <a:t>Perspectives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68FE81-6246-4210-98F1-3E765DE1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86125"/>
            <a:ext cx="371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D8E6F1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D8E6F1"/>
                </a:solidFill>
                <a:latin typeface="Aptos"/>
                <a:ea typeface="Aptos"/>
                <a:cs typeface="Aptos"/>
              </a:rPr>
              <a:t>Évaluation utilisateur avec des enseignants.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D8E6F1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D8E6F1"/>
                </a:solidFill>
                <a:latin typeface="Aptos"/>
                <a:ea typeface="Aptos"/>
                <a:cs typeface="Aptos"/>
              </a:rPr>
              <a:t>Extension des standards et des analyses pédagogiques.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D8E6F1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D8E6F1"/>
                </a:solidFill>
                <a:latin typeface="Aptos"/>
                <a:ea typeface="Aptos"/>
                <a:cs typeface="Aptos"/>
              </a:rPr>
              <a:t>Renforcement des scénarios collaboratifs.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B9C32-1BF7-41DD-AE40-DB2EDB03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Merci pour votre attention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83607-E72E-4383-BD2A-C457D5C0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0007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CE1C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CE1C7"/>
                </a:solidFill>
                <a:latin typeface="Aptos"/>
                <a:ea typeface="Aptos"/>
                <a:cs typeface="Aptos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9899836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2026-09-25T21:22:06.1680000Z</dcterms:created>
  <dcterms:modified xsi:type="dcterms:W3CDTF">2026-09-25T21:22:06.1680000Z</dcterms:modified>
</coreProperties>
</file>