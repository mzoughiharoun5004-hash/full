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3580a4d6414148" /><Relationship Type="http://schemas.openxmlformats.org/officeDocument/2006/relationships/extended-properties" Target="/docProps/app.xml" Id="R8739e3afecb2405e" /><Relationship Type="http://schemas.openxmlformats.org/officeDocument/2006/relationships/officeDocument" Target="/ppt/presentation.xml" Id="R409b884257184b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3e50a939e44f69"/>
  </p:sldMasterIdLst>
  <p:notesMasterIdLst>
    <p:notesMasterId xmlns:r="http://schemas.openxmlformats.org/officeDocument/2006/relationships" r:id="R4254cb3cfa6b4da7"/>
  </p:notesMasterIdLst>
  <p:sldIdLst>
    <p:sldId xmlns:r="http://schemas.openxmlformats.org/officeDocument/2006/relationships" id="256" r:id="R29c10ea39b7e4e64"/>
    <p:sldId xmlns:r="http://schemas.openxmlformats.org/officeDocument/2006/relationships" id="257" r:id="R935694fed3ca44e7"/>
    <p:sldId xmlns:r="http://schemas.openxmlformats.org/officeDocument/2006/relationships" id="258" r:id="R8d746550608b403c"/>
    <p:sldId xmlns:r="http://schemas.openxmlformats.org/officeDocument/2006/relationships" id="259" r:id="R58aafa0babe94792"/>
    <p:sldId xmlns:r="http://schemas.openxmlformats.org/officeDocument/2006/relationships" id="260" r:id="R6b7b0522297046e3"/>
    <p:sldId xmlns:r="http://schemas.openxmlformats.org/officeDocument/2006/relationships" id="261" r:id="R721d837b7926414e"/>
    <p:sldId xmlns:r="http://schemas.openxmlformats.org/officeDocument/2006/relationships" id="262" r:id="R602e7ec465424ea3"/>
    <p:sldId xmlns:r="http://schemas.openxmlformats.org/officeDocument/2006/relationships" id="263" r:id="R1592bbdd1744488d"/>
    <p:sldId xmlns:r="http://schemas.openxmlformats.org/officeDocument/2006/relationships" id="264" r:id="R64c21c425e6d41b9"/>
    <p:sldId xmlns:r="http://schemas.openxmlformats.org/officeDocument/2006/relationships" id="265" r:id="R52a32842937d4d9b"/>
    <p:sldId xmlns:r="http://schemas.openxmlformats.org/officeDocument/2006/relationships" id="266" r:id="R50c2691d6a7948b0"/>
    <p:sldId xmlns:r="http://schemas.openxmlformats.org/officeDocument/2006/relationships" id="267" r:id="R3e01eec4d38545a3"/>
    <p:sldId xmlns:r="http://schemas.openxmlformats.org/officeDocument/2006/relationships" id="268" r:id="R73ef9482b47b4256"/>
    <p:sldId xmlns:r="http://schemas.openxmlformats.org/officeDocument/2006/relationships" id="269" r:id="R66e211db540c460b"/>
    <p:sldId xmlns:r="http://schemas.openxmlformats.org/officeDocument/2006/relationships" id="270" r:id="Rfe0716ea2a2e40dd"/>
    <p:sldId xmlns:r="http://schemas.openxmlformats.org/officeDocument/2006/relationships" id="271" r:id="R48cbaf19f3d54a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09b75f833b4283" /><Relationship Type="http://schemas.openxmlformats.org/officeDocument/2006/relationships/slideMaster" Target="/ppt/slideMasters/slideMaster1.xml" Id="R8b3e50a939e44f69" /><Relationship Type="http://schemas.openxmlformats.org/officeDocument/2006/relationships/notesMaster" Target="/ppt/notesMasters/notesMaster1.xml" Id="R4254cb3cfa6b4da7" /><Relationship Type="http://schemas.openxmlformats.org/officeDocument/2006/relationships/presProps" Target="/ppt/presProps.xml" Id="R6083360d5bc64935" /><Relationship Type="http://schemas.openxmlformats.org/officeDocument/2006/relationships/tableStyles" Target="/ppt/tableStyles.xml" Id="R9d4e00d6418645a1" /><Relationship Type="http://schemas.openxmlformats.org/officeDocument/2006/relationships/slide" Target="/ppt/slides/slide1.xml" Id="R29c10ea39b7e4e64" /><Relationship Type="http://schemas.openxmlformats.org/officeDocument/2006/relationships/slide" Target="/ppt/slides/slide2.xml" Id="R935694fed3ca44e7" /><Relationship Type="http://schemas.openxmlformats.org/officeDocument/2006/relationships/slide" Target="/ppt/slides/slide3.xml" Id="R8d746550608b403c" /><Relationship Type="http://schemas.openxmlformats.org/officeDocument/2006/relationships/slide" Target="/ppt/slides/slide4.xml" Id="R58aafa0babe94792" /><Relationship Type="http://schemas.openxmlformats.org/officeDocument/2006/relationships/slide" Target="/ppt/slides/slide5.xml" Id="R6b7b0522297046e3" /><Relationship Type="http://schemas.openxmlformats.org/officeDocument/2006/relationships/slide" Target="/ppt/slides/slide6.xml" Id="R721d837b7926414e" /><Relationship Type="http://schemas.openxmlformats.org/officeDocument/2006/relationships/slide" Target="/ppt/slides/slide7.xml" Id="R602e7ec465424ea3" /><Relationship Type="http://schemas.openxmlformats.org/officeDocument/2006/relationships/slide" Target="/ppt/slides/slide8.xml" Id="R1592bbdd1744488d" /><Relationship Type="http://schemas.openxmlformats.org/officeDocument/2006/relationships/slide" Target="/ppt/slides/slide9.xml" Id="R64c21c425e6d41b9" /><Relationship Type="http://schemas.openxmlformats.org/officeDocument/2006/relationships/slide" Target="/ppt/slides/slide10.xml" Id="R52a32842937d4d9b" /><Relationship Type="http://schemas.openxmlformats.org/officeDocument/2006/relationships/slide" Target="/ppt/slides/slide11.xml" Id="R50c2691d6a7948b0" /><Relationship Type="http://schemas.openxmlformats.org/officeDocument/2006/relationships/slide" Target="/ppt/slides/slide12.xml" Id="R3e01eec4d38545a3" /><Relationship Type="http://schemas.openxmlformats.org/officeDocument/2006/relationships/slide" Target="/ppt/slides/slide13.xml" Id="R73ef9482b47b4256" /><Relationship Type="http://schemas.openxmlformats.org/officeDocument/2006/relationships/slide" Target="/ppt/slides/slide14.xml" Id="R66e211db540c460b" /><Relationship Type="http://schemas.openxmlformats.org/officeDocument/2006/relationships/slide" Target="/ppt/slides/slide15.xml" Id="Rfe0716ea2a2e40dd" /><Relationship Type="http://schemas.openxmlformats.org/officeDocument/2006/relationships/slide" Target="/ppt/slides/slide16.xml" Id="R48cbaf19f3d54a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7955acefbd44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55983ec8c149bd" /><Relationship Type="http://schemas.openxmlformats.org/officeDocument/2006/relationships/notesMaster" Target="/ppt/notesMasters/notesMaster1.xml" Id="Re2c193605d8d49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7c856746a043b9" /><Relationship Type="http://schemas.openxmlformats.org/officeDocument/2006/relationships/notesMaster" Target="/ppt/notesMasters/notesMaster1.xml" Id="R386d538690ab41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e25156a4514199" /><Relationship Type="http://schemas.openxmlformats.org/officeDocument/2006/relationships/notesMaster" Target="/ppt/notesMasters/notesMaster1.xml" Id="R23a0c89220e14c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c35e792b9141e1" /><Relationship Type="http://schemas.openxmlformats.org/officeDocument/2006/relationships/notesMaster" Target="/ppt/notesMasters/notesMaster1.xml" Id="R268adf6e47594d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f6380f2ca24ff4" /><Relationship Type="http://schemas.openxmlformats.org/officeDocument/2006/relationships/notesMaster" Target="/ppt/notesMasters/notesMaster1.xml" Id="Rb52bf4299e654d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d3ad9ecd7445fb" /><Relationship Type="http://schemas.openxmlformats.org/officeDocument/2006/relationships/notesMaster" Target="/ppt/notesMasters/notesMaster1.xml" Id="R36ef18eba08d45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0456eb6478431b" /><Relationship Type="http://schemas.openxmlformats.org/officeDocument/2006/relationships/notesMaster" Target="/ppt/notesMasters/notesMaster1.xml" Id="Rabbe7870449245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0c73ae63804eb7" /><Relationship Type="http://schemas.openxmlformats.org/officeDocument/2006/relationships/notesMaster" Target="/ppt/notesMasters/notesMaster1.xml" Id="R54cb3a25197a42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b1783efd684d41" /><Relationship Type="http://schemas.openxmlformats.org/officeDocument/2006/relationships/notesMaster" Target="/ppt/notesMasters/notesMaster1.xml" Id="R17cc2b9d060a47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cce73c06bc4c24" /><Relationship Type="http://schemas.openxmlformats.org/officeDocument/2006/relationships/notesMaster" Target="/ppt/notesMasters/notesMaster1.xml" Id="Rd371f0b227ef44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8f6b89cdc44eeb" /><Relationship Type="http://schemas.openxmlformats.org/officeDocument/2006/relationships/notesMaster" Target="/ppt/notesMasters/notesMaster1.xml" Id="R1023f32ff04f41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2f6bf924e3434c" /><Relationship Type="http://schemas.openxmlformats.org/officeDocument/2006/relationships/notesMaster" Target="/ppt/notesMasters/notesMaster1.xml" Id="Re65fc92c05834d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85f2661e8241d0" /><Relationship Type="http://schemas.openxmlformats.org/officeDocument/2006/relationships/notesMaster" Target="/ppt/notesMasters/notesMaster1.xml" Id="R6e6568dc552d4d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6e69dab05348d8" /><Relationship Type="http://schemas.openxmlformats.org/officeDocument/2006/relationships/notesMaster" Target="/ppt/notesMasters/notesMaster1.xml" Id="Rd47eb377259b4e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3c9839bbd842a5" /><Relationship Type="http://schemas.openxmlformats.org/officeDocument/2006/relationships/notesMaster" Target="/ppt/notesMasters/notesMaster1.xml" Id="Rbedca1ca304e49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0cc052880b45e3" /><Relationship Type="http://schemas.openxmlformats.org/officeDocument/2006/relationships/notesMaster" Target="/ppt/notesMasters/notesMaster1.xml" Id="R6960b3d3839540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Identity details: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framing: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scope and user boundary: presentation-facts.md; ARCHITECTURE.md §3–4.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users: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Methodology statement constrained to repository evidence: ARCHITECTURE.md;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Architecture: ARCHITECTURE.md §3, §4;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Access model: ARCHITECTURE.md §3.2, §4.2 and known issue §5;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presentation-assets/course-editor.png. Editor behavior: ARCHITECTURE.md §4.1–4.2.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presentation-assets/collaboration-comments.png. Collaboration implementation and limitation: ARCHITECTURE.md §3.4, §4.3;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presentation-assets/ai-proposal-review.png. AI proposal behavior and rate-limit limitation: ARCHITECTURE.md §3.3, §6;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presentation-assets/export-settings.png. Export implementation: ARCHITECTURE.md §3.5;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route: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scope: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Contribution summary from verified implementation: ARCHITECTURE.md §3–4; presentation-facts.md.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Known limitations: presentation-facts.md; ARCHITECTURE.md §5.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work: presentation-facts.md; ARCHITECTURE.md §5–6.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1db16f4134c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12a190f17f4a06" /><Relationship Type="http://schemas.openxmlformats.org/officeDocument/2006/relationships/slideLayout" Target="/ppt/slideLayouts/slideLayout1.xml" Id="R0a5866761df147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5866761df147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2d9f2899e45e1" /><Relationship Type="http://schemas.openxmlformats.org/officeDocument/2006/relationships/image" Target="/ppt/media/image.png" Id="R8bfcf1c1d2e74e33" /><Relationship Type="http://schemas.openxmlformats.org/officeDocument/2006/relationships/notesSlide" Target="/ppt/notesSlides/notesSlide1.xml" Id="R41016c1c2ee44e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f4995e6184b4f" /><Relationship Type="http://schemas.openxmlformats.org/officeDocument/2006/relationships/notesSlide" Target="/ppt/notesSlides/notesSlide2.xml" Id="R08fd898c5aad4f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85644e5184fad" /><Relationship Type="http://schemas.openxmlformats.org/officeDocument/2006/relationships/notesSlide" Target="/ppt/notesSlides/notesSlide3.xml" Id="R48f724d04bfa49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64a2bccb44526" /><Relationship Type="http://schemas.openxmlformats.org/officeDocument/2006/relationships/notesSlide" Target="/ppt/notesSlides/notesSlide4.xml" Id="R58723baca9c94d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ad5c117ec4fff" /><Relationship Type="http://schemas.openxmlformats.org/officeDocument/2006/relationships/notesSlide" Target="/ppt/notesSlides/notesSlide5.xml" Id="R8b65d3a0ce5b40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8b1d991e64d98" /><Relationship Type="http://schemas.openxmlformats.org/officeDocument/2006/relationships/notesSlide" Target="/ppt/notesSlides/notesSlide6.xml" Id="R0fc49bf69a2a4d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8b1226edb48e2" /><Relationship Type="http://schemas.openxmlformats.org/officeDocument/2006/relationships/notesSlide" Target="/ppt/notesSlides/notesSlide7.xml" Id="Rf05539d8cb164b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2d74b74e3471d" /><Relationship Type="http://schemas.openxmlformats.org/officeDocument/2006/relationships/image" Target="/ppt/media/image2.png" Id="R6aceddfae8214708" /><Relationship Type="http://schemas.openxmlformats.org/officeDocument/2006/relationships/notesSlide" Target="/ppt/notesSlides/notesSlide8.xml" Id="R16a9b5ec074342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d638b367a490e" /><Relationship Type="http://schemas.openxmlformats.org/officeDocument/2006/relationships/image" Target="/ppt/media/image3.png" Id="Rc0a5d641f70f4b32" /><Relationship Type="http://schemas.openxmlformats.org/officeDocument/2006/relationships/notesSlide" Target="/ppt/notesSlides/notesSlide9.xml" Id="Rb476628d407c40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be643d9ac44b2" /><Relationship Type="http://schemas.openxmlformats.org/officeDocument/2006/relationships/image" Target="/ppt/media/image4.png" Id="R7a5cc8a7fe5b4802" /><Relationship Type="http://schemas.openxmlformats.org/officeDocument/2006/relationships/notesSlide" Target="/ppt/notesSlides/notesSlide10.xml" Id="Rafaf6ae98e944d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3e5d506554a6b" /><Relationship Type="http://schemas.openxmlformats.org/officeDocument/2006/relationships/image" Target="/ppt/media/image5.png" Id="Rd821244fdea0435f" /><Relationship Type="http://schemas.openxmlformats.org/officeDocument/2006/relationships/notesSlide" Target="/ppt/notesSlides/notesSlide11.xml" Id="R47c02edac60845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f99d2158e42f1" /><Relationship Type="http://schemas.openxmlformats.org/officeDocument/2006/relationships/notesSlide" Target="/ppt/notesSlides/notesSlide12.xml" Id="Re76e96d11a9248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c897584fc4931" /><Relationship Type="http://schemas.openxmlformats.org/officeDocument/2006/relationships/notesSlide" Target="/ppt/notesSlides/notesSlide13.xml" Id="Rad38f3fe80234a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864fbbf464328" /><Relationship Type="http://schemas.openxmlformats.org/officeDocument/2006/relationships/notesSlide" Target="/ppt/notesSlides/notesSlide14.xml" Id="R314ab0850a9d4d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6860f0e7c408e" /><Relationship Type="http://schemas.openxmlformats.org/officeDocument/2006/relationships/notesSlide" Target="/ppt/notesSlides/notesSlide15.xml" Id="R43dfa30db7424a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00dbc2b91485d" /><Relationship Type="http://schemas.openxmlformats.org/officeDocument/2006/relationships/notesSlide" Target="/ppt/notesSlides/notesSlide16.xml" Id="R3815d5eb3bab4c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cf1c1d2e74e33"/>
          <a:stretch xmlns:a="http://schemas.openxmlformats.org/drawingml/2006/main"/>
        </p:blipFill>
        <p:spPr>
          <a:xfrm xmlns:a="http://schemas.openxmlformats.org/drawingml/2006/main">
            <a:off x="720490" y="533400"/>
            <a:ext cx="1168870" cy="666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60E53-2945-4E47-9118-E1F812ED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54D8B-2063-43E6-9F21-165BBC59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9E7E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7E9"/>
                </a:solidFill>
                <a:latin typeface="Aptos"/>
                <a:ea typeface="Aptos"/>
                <a:cs typeface="Aptos"/>
              </a:rPr>
              <a:t>An Active Pedagogical Scenario Authoring Platform</a:t>
            </a:r>
          </a:p>
          <a:p xmlns:a="http://schemas.openxmlformats.org/drawingml/2006/main">
            <a:pPr>
              <a:defRPr sz="2025" b="0">
                <a:solidFill>
                  <a:srgbClr val="D9E7E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7E9"/>
                </a:solidFill>
                <a:latin typeface="Aptos"/>
                <a:ea typeface="Aptos"/>
                <a:cs typeface="Aptos"/>
              </a:rPr>
              <a:t>with Collaboration and SCORM Export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02E2A-F51D-4024-AE0E-5F717AE7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61D62-362C-40D9-903D-BD166D48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8191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Haroun Mzoughi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Bachelor’s Degree in Computer Science, Computer Engineering track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University of Tunis El Manar, Faculty of Sciences of Tunis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Supervisor: Mr. RAMZI ZOUAOUI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Academic year: 2025/2026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3E737-77E7-494E-AEA1-43191B27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055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E7E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E7E9"/>
                </a:solidFill>
                <a:latin typeface="Aptos"/>
                <a:ea typeface="Aptos"/>
                <a:cs typeface="Aptos"/>
              </a:rPr>
              <a:t>PFE Jury Defense</a:t>
            </a:r>
          </a:p>
        </p:txBody>
      </p:sp>
    </p:spTree>
    <p:extLst>
      <p:ext uri="{BB962C8B-B14F-4D97-AF65-F5344CB8AC3E}">
        <p14:creationId xmlns:p14="http://schemas.microsoft.com/office/powerpoint/2010/main" val="1335314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A39D4-BF9D-4331-9078-11FE5279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Context and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56EC2-CF10-4693-AC01-4DB22655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7FADB-3CAF-4A1F-9387-AB9DB35B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A single workspace for an authoring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93409-51DE-469B-8B4D-05027D9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50B3B-AAF1-4E52-A239-A43A7C04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Educational scenarios often move across separate 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EC5A3-FCC3-4857-BB95-B322E096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67A33-E6BC-4AB7-8A35-6C8C166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099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37AD1-B114-4FDF-80C2-94CE474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242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Lessons, quizzes and learning paths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19212-E0FC-42F9-AB81-BF0883EB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14F08-454A-4939-BAD1-74D7CB6B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099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95D36-B184-4799-A12C-55771CF7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242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Comments, feedback and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015E1-5965-48A4-95C3-B9EDBEF6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67542-20C0-4B53-BEB1-79DE5CD6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099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3169A-AF63-4421-BDC8-CA20D16E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5242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SCORM or PDF for external LMS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DB487-F573-45A8-8B69-F9EDEB1D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SupScenario keeps this work around one structured course document.</a:t>
            </a:r>
          </a:p>
        </p:txBody>
      </p:sp>
    </p:spTree>
    <p:extLst>
      <p:ext uri="{BB962C8B-B14F-4D97-AF65-F5344CB8AC3E}">
        <p14:creationId xmlns:p14="http://schemas.microsoft.com/office/powerpoint/2010/main" val="1555425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A311F-05B8-4600-9407-9D8C5AE7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Objectives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D8912-22E0-4F98-B2B8-6F2699EF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0BBA0-E7B4-478C-A3F6-1A2A968D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A90B2-40D3-4B0C-A281-4696EAAA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project focuses on the complete authoring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64200-F3D5-4271-B3F8-8626916D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69B0C-0B8B-43FA-B2DD-A59F5FB4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Create structured courses with lessons, quizzes, media and decision-oriented blocks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43714-E2BE-4547-88BC-14867403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128D6-AC1D-4AB8-B662-709317EF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Support co-author work, comments, review actions and controlled publishing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0EFFB-EDAF-4256-9019-B3692F26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CF2F5-3B1F-410A-8A79-6D13935D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Export learning content as SCORM 1.2 or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19FC-9837-431E-A778-75908A66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ED8D3-77E1-42A1-8CEB-FDF86B64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5D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5D00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1014B-8794-41A2-B144-3795ABFD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196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Learners consume exported packages through an external LMS. They do not use SupScenario directly.</a:t>
            </a:r>
          </a:p>
        </p:txBody>
      </p:sp>
    </p:spTree>
    <p:extLst>
      <p:ext uri="{BB962C8B-B14F-4D97-AF65-F5344CB8AC3E}">
        <p14:creationId xmlns:p14="http://schemas.microsoft.com/office/powerpoint/2010/main" val="1886596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E33C5-182E-4260-8720-FC88F453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Users and functional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BE5C7-2A7F-4E11-A852-81F029D6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67FCE-2763-4E2B-BF55-75F6714D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98EBD-75F6-46E0-B1EB-5FDDD0C8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Teachers and instructional designers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CB5C9-7D23-4F31-8C3C-3500E24F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609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Create and structure course 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BF87D-D47F-45FF-87DE-946599D1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F2095-97A7-4AE3-B34D-6FD04CC1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Co-authors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D8498-A622-48A1-913A-EE3B5F19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0325"/>
            <a:ext cx="609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Edit shared scenarios and exchange comments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9EC2C-C97A-4265-9DF7-6F1FC569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D3738-D177-4387-87C4-7701D09B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Administrators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D8B14-8CAF-4C0E-A462-0C850652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609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Manage users and review submitted scenarios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F2442-4A78-4F44-BB31-55024B93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5D89F-FF36-46FB-A74E-357DF8E3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LMS learners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4749C-1D58-49D7-BBF3-CF32016D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00575"/>
            <a:ext cx="609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Access exported SCORM packages outside the platform</a:t>
            </a:r>
          </a:p>
        </p:txBody>
      </p:sp>
    </p:spTree>
    <p:extLst>
      <p:ext uri="{BB962C8B-B14F-4D97-AF65-F5344CB8AC3E}">
        <p14:creationId xmlns:p14="http://schemas.microsoft.com/office/powerpoint/2010/main" val="1209382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E6EDE-59F7-44A4-90B9-7252BDA7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Development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C6841-C7E5-4C27-9C60-0470AE0A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5AC64-6833-42A7-B248-6862B66C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5CEC2-5E45-48B7-A251-6CC8FBE3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 incremental implementation and validation 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DBE1E-3581-4ACB-9F84-21BF9633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952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3BF94-D332-4D85-A898-B0161BC1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6DABB-92A9-45AE-A367-DEB7F297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A03B5-BD19-43AD-81BB-A375015C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 the 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C52AF-4A75-4E66-896B-9AD80BBD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Course document, roles, lifecycle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4F6D3-56F4-4E17-8802-E38749DC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19375"/>
            <a:ext cx="2952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4CF11-4543-4D7D-964E-C6961F63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F11E1-65AA-4EA0-A086-9DCC9DFC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43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9602C-0B8C-43E0-BF28-6459E88F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Build core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C867F-21BE-4AB7-AF28-35DC549F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Authoring, collaboration, exports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56EB2-A3DD-4575-AF0D-CF339B5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19375"/>
            <a:ext cx="2952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7C50B-5714-41A7-AAFE-CA88FB93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24492-0740-48FC-829E-01F31962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43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CE896-2244-4671-B0E6-A85D1213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766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Validate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42E0F-0291-4BCC-A6AE-D686A225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Automated tests, build and manual demo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5644E-9BD7-491A-88DA-8FF57ADC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5D0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5D00"/>
                </a:solidFill>
                <a:latin typeface="Aptos"/>
                <a:ea typeface="Aptos"/>
                <a:cs typeface="Aptos"/>
              </a:rPr>
              <a:t>The repository documents an iterative engineering process. No formal user-study result is claimed.</a:t>
            </a:r>
          </a:p>
        </p:txBody>
      </p:sp>
    </p:spTree>
    <p:extLst>
      <p:ext uri="{BB962C8B-B14F-4D97-AF65-F5344CB8AC3E}">
        <p14:creationId xmlns:p14="http://schemas.microsoft.com/office/powerpoint/2010/main" val="6754685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63586-E58C-47E2-B5B4-B63EC6CB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2E178-A43A-4D7B-9626-65F80197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63FC8-5909-4834-A182-BC96B3BE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Implemented services and responsibility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4566B-DF6E-4365-A88A-1F49EFC9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EA90F-686C-4945-A9FE-0D81FB6B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762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D5B44-DD1B-419D-92E9-7BBEECA1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Next.js 16 / React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E2F18-1305-45EE-AD64-FE1EB7A3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7C7A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B6545-7825-46E2-993C-B063FA39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762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03CEB-3AF4-411D-AF3A-D80F2933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9075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NestJS 11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4F02A-DB5F-4189-A348-1AEAED95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52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7C7A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6FB79-FADB-4CE0-BBA8-C46D304B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762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E6272-6F87-44CF-ACD8-CCB7D17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F62E2-3A7C-480F-A8BA-B9815390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7C7A"/>
                </a:solidFill>
                <a:latin typeface="Aptos"/>
                <a:ea typeface="Aptos"/>
                <a:cs typeface="Aptos"/>
              </a:rPr>
              <a:t>Persistent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DE7D5-BDCC-42C4-95DF-F4B6F54C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762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B9A85-B742-4ED2-9988-003C9447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Socket.IO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2504A-A3EC-4B88-9184-D20CB922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7C7A"/>
                </a:solidFill>
                <a:latin typeface="Aptos"/>
                <a:ea typeface="Aptos"/>
                <a:cs typeface="Aptos"/>
              </a:rPr>
              <a:t>Collaboration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098B3-5093-479B-B385-4158ADDB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57625"/>
            <a:ext cx="2762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EC26E-CA3E-4270-BD2C-164A45F6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SCORM / PDF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0FA4A-8CEB-495D-B4BC-743D3BDA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457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7C7A"/>
                </a:solidFill>
                <a:latin typeface="Aptos"/>
                <a:ea typeface="Aptos"/>
                <a:cs typeface="Aptos"/>
              </a:rPr>
              <a:t>Exports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33C75-8A02-4743-9620-71AC7962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2762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E7919-6055-4B25-8A4E-D0D6E9ED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Groq / Pexels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4B39B-03B5-46BE-B236-A692D514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57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7C7A"/>
                </a:solidFill>
                <a:latin typeface="Aptos"/>
                <a:ea typeface="Aptos"/>
                <a:cs typeface="Aptos"/>
              </a:rPr>
              <a:t>Optional external services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AB39D-40A3-4668-BC35-632A2AE6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695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776A5E-63B8-4751-8F89-FD0DC12E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57450"/>
            <a:ext cx="695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BF916B-B126-4BDE-94F7-8AA3F664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62450"/>
            <a:ext cx="695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ED907-7786-462F-ADF9-459A12E7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62450"/>
            <a:ext cx="695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51185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9B1A1-FABC-4F35-84CA-98A30A9D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Security and access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18CAA-0169-4120-8869-CFC5FF18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9F5F3-9DF2-4D67-B3E3-54933FB5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46F36-300A-4B5A-B2FB-288EE707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2D74C-5264-48F0-A1D1-A62F820E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192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JWT-based sessions protect dashboard routes and API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6F886-CE31-4EC3-9FB5-BBD46FB7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D8584-1D4E-4A96-8227-7ABD7545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99665-5847-455A-8BEB-F38F1878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24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Administrators have user-management and review responsibilities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F832F-FD09-4189-A6CF-7AA2F0CE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9DFE7-5068-4325-964E-DE5CCC5F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Scenario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1672E-853F-4653-82C7-079715D2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290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Owners, shared co-authors and administrators receive checked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502A6-24BF-4EBA-BFC1-9705B9BD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D1729-132F-4C01-ADD0-A2B2B735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Lifecycle and edits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AC948-2ED0-4CF4-9883-A8E40904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338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Approval states and optimistic concurrency protect review and saves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9FCD5-7516-4A91-95ED-FE11515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08590-91EC-4E7E-9577-5B48C1DE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5D0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5D00"/>
                </a:solidFill>
                <a:latin typeface="Aptos"/>
                <a:ea typeface="Aptos"/>
                <a:cs typeface="Aptos"/>
              </a:rPr>
              <a:t>Implementation note: a production deployment requires a strong random JWT secret.</a:t>
            </a:r>
          </a:p>
        </p:txBody>
      </p:sp>
    </p:spTree>
    <p:extLst>
      <p:ext uri="{BB962C8B-B14F-4D97-AF65-F5344CB8AC3E}">
        <p14:creationId xmlns:p14="http://schemas.microsoft.com/office/powerpoint/2010/main" val="511692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19786-6A5C-4818-8524-3FB57880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Course authoring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B7C28-8B65-421C-8E3F-B311EC95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8DD12-F0D2-4870-B8EE-60DA6FCC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Lessons, quizzes, media and structured blocks in one editor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3C4D1-6EF3-4866-9689-FE490097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eddfae8214708"/>
          <a:stretch xmlns:a="http://schemas.openxmlformats.org/drawingml/2006/main"/>
        </p:blipFill>
        <p:spPr>
          <a:xfrm xmlns:a="http://schemas.openxmlformats.org/drawingml/2006/main">
            <a:off x="685800" y="1903548"/>
            <a:ext cx="7334250" cy="343190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16F94-C82F-4DE0-963F-69527A87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261937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700F1-5C58-4B80-BCF8-C88BF2D5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Structured course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4FE9F-1BDD-4CF5-BB81-C8402B6B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editor keeps content in an ordered course structure rather than disconnected files.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85323-18FB-4E5D-8ADA-196B1706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261937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FABDA-A31D-4E07-85DE-265DE2DD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909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Author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DB02B-69E6-4B24-84CB-796A529D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719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Authors add lessons or quizzes and edit content before delivery.</a:t>
            </a:r>
          </a:p>
        </p:txBody>
      </p:sp>
    </p:spTree>
    <p:extLst>
      <p:ext uri="{BB962C8B-B14F-4D97-AF65-F5344CB8AC3E}">
        <p14:creationId xmlns:p14="http://schemas.microsoft.com/office/powerpoint/2010/main" val="3814664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A05F1-A879-492A-954E-672113E3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Collaboration and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224F5-5649-4D98-B85C-29CA933C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24D2F-1C19-4D31-9C45-B23CAFE6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Co-authors work on shared scenarios with visible 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CE287-80C8-449F-91FE-66528673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5d641f70f4b32"/>
          <a:stretch xmlns:a="http://schemas.openxmlformats.org/drawingml/2006/main"/>
        </p:blipFill>
        <p:spPr>
          <a:xfrm xmlns:a="http://schemas.openxmlformats.org/drawingml/2006/main">
            <a:off x="685800" y="1874627"/>
            <a:ext cx="7334250" cy="348974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04950-9F51-4B08-9A35-DB8C292C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DF410-C272-489D-9579-3242DEE8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3357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Scenario sharing grants co-author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BBFEE-EA94-4563-8D39-BE51FE54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8F38B-AC9E-4189-980C-474283A4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8607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Comments support review and resolution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86086-C81D-4F1B-854F-7F2CD4BF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3A8AB-D9A1-40C4-A69E-4724B206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3857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Real-time gateway tracks presence and element locks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F4B5B-C212-4898-AEDE-EEADBDD6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5D0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5D00"/>
                </a:solidFill>
                <a:latin typeface="Aptos"/>
                <a:ea typeface="Aptos"/>
                <a:cs typeface="Aptos"/>
              </a:rPr>
              <a:t>Limit: presence and locks are process-local until shared storage supports multiple backend replicas.</a:t>
            </a:r>
          </a:p>
        </p:txBody>
      </p:sp>
    </p:spTree>
    <p:extLst>
      <p:ext uri="{BB962C8B-B14F-4D97-AF65-F5344CB8AC3E}">
        <p14:creationId xmlns:p14="http://schemas.microsoft.com/office/powerpoint/2010/main" val="1881748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D7751-B96D-4A6F-837F-FA81CF07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AI-assisted authoring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19261-F8EA-46D9-96A0-3C1E9AC2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33526-A9AB-4EC3-B4C8-EDBB4208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The author reviews every proposed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A71B6-DE7A-4AEA-AFD0-B917684F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cc8a7fe5b4802"/>
          <a:stretch xmlns:a="http://schemas.openxmlformats.org/drawingml/2006/main"/>
        </p:blipFill>
        <p:spPr>
          <a:xfrm xmlns:a="http://schemas.openxmlformats.org/drawingml/2006/main">
            <a:off x="2287461" y="1571625"/>
            <a:ext cx="4130928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46235-C3F4-4371-B5E5-3A29C3C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Proposal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9BE11-F486-4CB4-8CAB-3C62A561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AI service returns a version-locked change set. The author can inspect it, then apply it explicitly.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7C89A-DDD0-41B5-845F-407F5683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5D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85D00"/>
                </a:solidFill>
                <a:latin typeface="Aptos"/>
                <a:ea typeface="Aptos"/>
                <a:cs typeface="Aptos"/>
              </a:rPr>
              <a:t>Practical constraint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B9B5F-A8AA-4E09-88A6-0627A292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3385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Groq tier limits can delay consecutive AI actions. Short cooldowns retry once; sustained use needs pacing.</a:t>
            </a:r>
          </a:p>
        </p:txBody>
      </p:sp>
    </p:spTree>
    <p:extLst>
      <p:ext uri="{BB962C8B-B14F-4D97-AF65-F5344CB8AC3E}">
        <p14:creationId xmlns:p14="http://schemas.microsoft.com/office/powerpoint/2010/main" val="3403962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2F35D-1005-4868-B02D-9D9D573B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Export and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28A26-7C4E-4BC6-A60D-B4455C5A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24A66-E9C3-4B73-B9DF-184C5EB4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Exported packages leave the platform for LMS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68D86-CB6C-4D61-B5C9-DFE12851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1244fdea0435f"/>
          <a:stretch xmlns:a="http://schemas.openxmlformats.org/drawingml/2006/main"/>
        </p:blipFill>
        <p:spPr>
          <a:xfrm xmlns:a="http://schemas.openxmlformats.org/drawingml/2006/main">
            <a:off x="692716" y="1571625"/>
            <a:ext cx="6558418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0EB39-1713-41D7-919F-0333265F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0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SCORM 1.2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EDB0E-96A0-43EB-B9E5-ADBAB4F5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Package export and uploaded-package preview utility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8BF22-1A07-4AC4-B944-B732C43B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ED02E-504D-4401-8ADE-84258D89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909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Static export rendered through the PDF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1BB78-145E-467E-B955-CA0DDD96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5D0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85D00"/>
                </a:solidFill>
                <a:latin typeface="Aptos"/>
                <a:ea typeface="Aptos"/>
                <a:cs typeface="Aptos"/>
              </a:rPr>
              <a:t>Delivery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43581-9AEA-42C2-9B01-2B9668ED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720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An external LMS hosts the learning package.</a:t>
            </a:r>
          </a:p>
        </p:txBody>
      </p:sp>
    </p:spTree>
    <p:extLst>
      <p:ext uri="{BB962C8B-B14F-4D97-AF65-F5344CB8AC3E}">
        <p14:creationId xmlns:p14="http://schemas.microsoft.com/office/powerpoint/2010/main" val="348960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5963F-8A1A-4BE3-B41E-A025EC3D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Demonstration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B91F4-E7EE-428D-BA69-CE60E828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03FD8-2FCD-4B32-BCFA-6E794227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Prepared route for a short live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E8F78-B9C2-4B06-9078-931A049C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9D8E1-C12E-438E-91B5-91861AB1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104DF-520F-4A06-A01B-08FDEBC5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1. Scenario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D5C23-62BE-424D-8CF1-EFDD7400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AC770-D22C-4966-8C1D-67E463CC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571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302FD-3131-4711-8BF1-410131B8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95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2. Course editor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71F35-87CA-4110-8870-D066D153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575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928F6-7193-4668-8324-BE656B6D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71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08B95-1124-4D9F-88AC-3E546B77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3. AI proposal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66A9D-4741-4A70-BD50-DADFF783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5D452-DD95-4791-B777-EE10073B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71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35FE0-CFDA-48E2-87CE-ED7B72A9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95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4. Export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3712B-0259-4179-9587-EFD352D3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Recommended live focus: open a prepared scenario, show autosave, review an AI proposal, then open export settings.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230E4-AFB5-4C5D-8CAD-A1917798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5D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5D00"/>
                </a:solidFill>
                <a:latin typeface="Aptos"/>
                <a:ea typeface="Aptos"/>
                <a:cs typeface="Aptos"/>
              </a:rPr>
              <a:t>Use a disposable account and a scenario without private information.</a:t>
            </a:r>
          </a:p>
        </p:txBody>
      </p:sp>
    </p:spTree>
    <p:extLst>
      <p:ext uri="{BB962C8B-B14F-4D97-AF65-F5344CB8AC3E}">
        <p14:creationId xmlns:p14="http://schemas.microsoft.com/office/powerpoint/2010/main" val="20781365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E999C-6B8F-4411-9446-B6A39C40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Validation and quality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4A8AA-6E41-4F01-AEE2-358BE1D1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E7ABD-04DF-4300-BA79-384D39F1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E847C-041F-4A98-A03C-808307CF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Automated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FDC82-5E9F-49DA-A380-7C7868EE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Backend service and unit tests cover auth, users, scenarios, media/resources, AI-course behavior and SCORM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9906F-DD33-4541-89C4-F89DF4D2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F404A-3C26-4407-8FF0-A12E9552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Behavior under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009E0-9835-4556-A4FC-3A9EF269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98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Lifecycle transitions, access checks, AI proposal validation, media behavior and upload safety guards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298E9-DDF2-4569-A475-8C05D241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D46AC-ACE0-4D12-90CF-4A5F90E8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Build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B9589-1818-40DD-98E3-9221B4EF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Repository commands: npm run test and npm run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056D3-0311-4252-92D3-9929ECA5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A6EC6-80E7-4293-80B3-BD8E89FD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5D0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5D00"/>
                </a:solidFill>
                <a:latin typeface="Aptos"/>
                <a:ea typeface="Aptos"/>
                <a:cs typeface="Aptos"/>
              </a:rPr>
              <a:t>No coverage percentage, performance benchmark or SCORM certification is claimed.</a:t>
            </a:r>
          </a:p>
        </p:txBody>
      </p:sp>
    </p:spTree>
    <p:extLst>
      <p:ext uri="{BB962C8B-B14F-4D97-AF65-F5344CB8AC3E}">
        <p14:creationId xmlns:p14="http://schemas.microsoft.com/office/powerpoint/2010/main" val="7413177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263EB-7B19-4988-B9F2-0489FC2B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Achieved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45BF3-ED66-458C-8AEA-1F4A894E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1F6F9-FCCA-4F2B-B982-6548CAE8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6D837-29DD-4CE9-ACDF-6548D81F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SupScenario connects the parts of pedagogical scenario production that otherwise remain separate.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5CD35-8274-4B65-A84F-B269708B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Unified authoring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D3259-09D4-405A-B054-D7498760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 structured course document holds lessons, quizzes and media blocks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6D7B0-55B7-4851-9A25-0E509CBE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Controlled collaboration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552CA-6104-487D-8CAE-CBFFA91E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19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Shared access, comments, review actions and conflict-aware autosave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8B88D-7932-4896-84F5-A5E6BFF9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AI under author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B48F2-C805-4FBD-AA29-78B18C09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671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Suggestions remain proposals until an author chooses to apply them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894D5-C401-405E-974D-8C440DE6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Interoperable 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19611-86D2-4E80-B44A-DDAF5254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5148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SCORM 1.2 and PDF exports support delivery outside the platform</a:t>
            </a:r>
          </a:p>
        </p:txBody>
      </p:sp>
    </p:spTree>
    <p:extLst>
      <p:ext uri="{BB962C8B-B14F-4D97-AF65-F5344CB8AC3E}">
        <p14:creationId xmlns:p14="http://schemas.microsoft.com/office/powerpoint/2010/main" val="15094658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D84F4-D20D-4674-A553-0CBED449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Current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B27EE-59C1-4273-BB66-EE11D711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2269F-657F-4AF2-B237-79C79188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Known constraints guide the next engineering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52628-252A-4DB6-9DC5-FD722D2D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0D83D-7491-4DCE-9176-91A97C2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B7C38-4922-4EE8-B221-1BFFEADF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Multi-replica collaboration needs shared presence and lock storage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22DD2-4CD3-437A-8695-C49C895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621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46281-EC5F-450E-82FE-6FB163A7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09D0E-FFDD-4F6F-B7FC-CB5B603B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SCORM packages reference hosted external media, limiting fully offline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24ADD-A2BD-4E24-8E82-ED88BF58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D32A3-7698-4222-A015-029402C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44714-9B09-4BC9-8795-F65A37F6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Free or on-demand Groq limits can delay repeated AI 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F725A-D3A3-480A-8E8C-8B71B2E2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66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88DCF-4F0C-49BC-9382-55D76876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3295C-8B21-423C-B473-160021FF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Some branching blocks have richer PDF rendering than SCORM rendering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4D2D0-E279-4EBD-98C1-E0E5CF6C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C9011-6C7A-4072-96C9-E8229FEB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5D0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5D00"/>
                </a:solidFill>
                <a:latin typeface="Aptos"/>
                <a:ea typeface="Aptos"/>
                <a:cs typeface="Aptos"/>
              </a:rPr>
              <a:t>Before staging or production use, replace the local development JWT secret with a strong random secret.</a:t>
            </a:r>
          </a:p>
        </p:txBody>
      </p:sp>
    </p:spTree>
    <p:extLst>
      <p:ext uri="{BB962C8B-B14F-4D97-AF65-F5344CB8AC3E}">
        <p14:creationId xmlns:p14="http://schemas.microsoft.com/office/powerpoint/2010/main" val="1695024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EC0DE-23C0-4FE7-9130-A3CF5A4B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Conclusion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7AB0D-4959-4E63-B9CB-4AF06700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6ADFE-8934-4B08-99A2-B08AA40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7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B"/>
                </a:solidFill>
                <a:latin typeface="Aptos"/>
                <a:ea typeface="Aptos"/>
                <a:cs typeface="Aptos"/>
              </a:rPr>
              <a:t>SupScenario  |  PFE Defense  |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1CD40-F667-4361-81F7-5097DB21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SupScenario delivers an implemented authoring workflow from structured course creation to controlled review and export.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19C7F-BBD5-446B-ACA6-36FF6749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479ED-5742-4E73-9EA1-1778F9AD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AD597-F07B-47CD-8224-A358D328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70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Bundle media for offline SCORM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F09A7-12BD-4825-82D9-02E28089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CFB07-03FC-4D47-883D-84D1081F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Complete SCORM renderers for all decision block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B3314-84A7-4E07-BF84-9DD596F8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8F70E-92D8-4400-A7AF-D5CB285E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Share collaboration state across backend replicas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4F5C8-7E48-406E-AF1B-0AA3B60A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CEB9D-5D90-4B1E-BF8C-F162D665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Assess direct LMS workflows or self-hosted models when justified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28F70-9F37-453A-8998-AC54E45C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8B0DB-E800-460F-916D-2377705A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14C92-47F7-44E1-A177-F44CA1C0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9531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C7A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53039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2026-09-26T00:38:47.0160000Z</dcterms:created>
  <dcterms:modified xsi:type="dcterms:W3CDTF">2026-09-26T00:38:47.0160000Z</dcterms:modified>
</coreProperties>
</file>